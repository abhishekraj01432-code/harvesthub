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e836c2d-9955-1867-1f73-db437ddcc2db}">
          <p14:sldIdLst>
            <p14:sldId id="256"/>
            <p14:sldId id="257"/>
            <p14:sldId id="258"/>
            <p14:sldId id="259"/>
          </p14:sldIdLst>
        </p14:section>
        <p14:section name="Features" id="{b0b4f66b-83cf-2d41-945e-08b148284a62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Technology" id="{1245256d-cc00-a572-499a-927c5ee875bd}">
          <p14:sldIdLst>
            <p14:sldId id="266"/>
            <p14:sldId id="267"/>
            <p14:sldId id="268"/>
          </p14:sldIdLst>
        </p14:section>
        <p14:section name="Setup &amp; Delivery" id="{59319f45-df33-96b7-7106-9264806b97fd}">
          <p14:sldIdLst>
            <p14:sldId id="269"/>
            <p14:sldId id="270"/>
            <p14:sldId id="271"/>
          </p14:sldIdLst>
        </p14:section>
        <p14:section name="Closing" id="{c9ed92b6-41b4-036c-0aef-785c72c93824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2588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HarvestHub  |  Farm Management &amp; Crop Planning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bhishekraj01432-code/HarvestHub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3"/>
                </a:solidFill>
              </a:rPr>
              <a:t>FULL-STACK FARM MANAGEMENT PLATFORM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3258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HarvestHub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4688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Farm Management &amp; Crop Planning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Angular  •  Spring Boot  •  MySQL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Abhishek Verma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B.Tech – Computer Science and Engineering</a:t>
            </a:r>
            <a:endParaRPr lang="en-US" sz="1400" dirty="0"/>
          </a:p>
        </p:txBody>
      </p:sp>
      <p:sp>
        <p:nvSpPr>
          <p:cNvPr id="8" name="Hero circle"/>
          <p:cNvSpPr/>
          <p:nvPr/>
        </p:nvSpPr>
        <p:spPr>
          <a:xfrm>
            <a:off x="6035040" y="1188720"/>
            <a:ext cx="2651760" cy="26517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9" name="Hero icon" descr="Seedlin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2024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5" name="Agenda card 1"/>
          <p:cNvSpPr/>
          <p:nvPr/>
        </p:nvSpPr>
        <p:spPr>
          <a:xfrm>
            <a:off x="548640" y="137160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6" name="Number circle 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21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Overview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41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problem and the goal</a:t>
            </a:r>
            <a:endParaRPr lang="en-US" sz="1400" dirty="0"/>
          </a:p>
        </p:txBody>
      </p:sp>
      <p:sp>
        <p:nvSpPr>
          <p:cNvPr id="10" name="Agenda card 2"/>
          <p:cNvSpPr/>
          <p:nvPr/>
        </p:nvSpPr>
        <p:spPr>
          <a:xfrm>
            <a:off x="3291840" y="137160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1" name="Number circle 2"/>
          <p:cNvSpPr/>
          <p:nvPr/>
        </p:nvSpPr>
        <p:spPr>
          <a:xfrm>
            <a:off x="347472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747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121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Features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2441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 farm management areas</a:t>
            </a:r>
            <a:endParaRPr lang="en-US" sz="1400" dirty="0"/>
          </a:p>
        </p:txBody>
      </p:sp>
      <p:sp>
        <p:nvSpPr>
          <p:cNvPr id="15" name="Agenda card 3"/>
          <p:cNvSpPr/>
          <p:nvPr/>
        </p:nvSpPr>
        <p:spPr>
          <a:xfrm>
            <a:off x="6035040" y="137160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6" name="Number circle 3"/>
          <p:cNvSpPr/>
          <p:nvPr/>
        </p:nvSpPr>
        <p:spPr>
          <a:xfrm>
            <a:off x="621792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2121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Tech &amp; Architecture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2441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Stack, flow and structure</a:t>
            </a:r>
            <a:endParaRPr lang="en-US" sz="1400" dirty="0"/>
          </a:p>
        </p:txBody>
      </p:sp>
      <p:sp>
        <p:nvSpPr>
          <p:cNvPr id="20" name="Agenda card 4"/>
          <p:cNvSpPr/>
          <p:nvPr/>
        </p:nvSpPr>
        <p:spPr>
          <a:xfrm>
            <a:off x="548640" y="301752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1" name="Number circle 4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3767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Setup &amp; Run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087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Prerequisites and steps</a:t>
            </a:r>
            <a:endParaRPr lang="en-US" sz="1400" dirty="0"/>
          </a:p>
        </p:txBody>
      </p:sp>
      <p:sp>
        <p:nvSpPr>
          <p:cNvPr id="25" name="Agenda card 5"/>
          <p:cNvSpPr/>
          <p:nvPr/>
        </p:nvSpPr>
        <p:spPr>
          <a:xfrm>
            <a:off x="3291840" y="301752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6" name="Number circle 5"/>
          <p:cNvSpPr/>
          <p:nvPr/>
        </p:nvSpPr>
        <p:spPr>
          <a:xfrm>
            <a:off x="3474720" y="3200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474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05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3767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Testing &amp; Build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474720" y="4087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Verification and commands</a:t>
            </a:r>
            <a:endParaRPr lang="en-US" sz="1400" dirty="0"/>
          </a:p>
        </p:txBody>
      </p:sp>
      <p:sp>
        <p:nvSpPr>
          <p:cNvPr id="30" name="Agenda card 6"/>
          <p:cNvSpPr/>
          <p:nvPr/>
        </p:nvSpPr>
        <p:spPr>
          <a:xfrm>
            <a:off x="6035040" y="3017520"/>
            <a:ext cx="25603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31" name="Number circle 6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2179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06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767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CI/CD &amp; Docs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0873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and documents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Overview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HarvestHub is a full-stack farm management application that simplifies agricultural operations through one centralized platform.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146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Manage crops, fields and farm profiles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Plan crops, activities and rotation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Track expenses, harvests and equipment</a:t>
            </a:r>
            <a:endParaRPr lang="en-US" sz="1500" dirty="0"/>
          </a:p>
        </p:txBody>
      </p:sp>
      <p:sp>
        <p:nvSpPr>
          <p:cNvPr id="7" name="Stat card 1"/>
          <p:cNvSpPr/>
          <p:nvPr/>
        </p:nvSpPr>
        <p:spPr>
          <a:xfrm>
            <a:off x="5486400" y="1325880"/>
            <a:ext cx="3108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0" y="132588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13258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farm management modules</a:t>
            </a:r>
            <a:endParaRPr lang="en-US" sz="1400" dirty="0"/>
          </a:p>
        </p:txBody>
      </p:sp>
      <p:sp>
        <p:nvSpPr>
          <p:cNvPr id="10" name="Stat card 2"/>
          <p:cNvSpPr/>
          <p:nvPr/>
        </p:nvSpPr>
        <p:spPr>
          <a:xfrm>
            <a:off x="5486400" y="2423160"/>
            <a:ext cx="3108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242316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0" y="2423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core technologies: Angular, Spring Boot, MySQL</a:t>
            </a:r>
            <a:endParaRPr lang="en-US" sz="1400" dirty="0"/>
          </a:p>
        </p:txBody>
      </p:sp>
      <p:sp>
        <p:nvSpPr>
          <p:cNvPr id="13" name="Stat card 3"/>
          <p:cNvSpPr/>
          <p:nvPr/>
        </p:nvSpPr>
        <p:spPr>
          <a:xfrm>
            <a:off x="5486400" y="3520440"/>
            <a:ext cx="3108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0" y="352044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REST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APIs connect frontend and backend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Objective</a:t>
            </a:r>
            <a:endParaRPr lang="en-US" sz="3000" dirty="0"/>
          </a:p>
        </p:txBody>
      </p:sp>
      <p:sp>
        <p:nvSpPr>
          <p:cNvPr id="5" name="Objective statement"/>
          <p:cNvSpPr/>
          <p:nvPr/>
        </p:nvSpPr>
        <p:spPr>
          <a:xfrm>
            <a:off x="548640" y="1325880"/>
            <a:ext cx="804672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325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HarvestHub aims to organize essential farm management activities in one application.</a:t>
            </a:r>
            <a:endParaRPr lang="en-US" sz="2200" dirty="0"/>
          </a:p>
        </p:txBody>
      </p:sp>
      <p:sp>
        <p:nvSpPr>
          <p:cNvPr id="7" name="Pillar card 1"/>
          <p:cNvSpPr/>
          <p:nvPr/>
        </p:nvSpPr>
        <p:spPr>
          <a:xfrm>
            <a:off x="548640" y="269748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8" name="Icon circle Centralize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Centralize" descr="Centraliz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9535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410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Centralize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3703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Bring crop planning, field operations, expenses and harvests into one platform.</a:t>
            </a:r>
            <a:endParaRPr lang="en-US" sz="1400" dirty="0"/>
          </a:p>
        </p:txBody>
      </p:sp>
      <p:sp>
        <p:nvSpPr>
          <p:cNvPr id="12" name="Pillar card 2"/>
          <p:cNvSpPr/>
          <p:nvPr/>
        </p:nvSpPr>
        <p:spPr>
          <a:xfrm>
            <a:off x="3291840" y="269748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3" name="Icon circle Structure"/>
          <p:cNvSpPr/>
          <p:nvPr/>
        </p:nvSpPr>
        <p:spPr>
          <a:xfrm>
            <a:off x="347472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Structure" descr="Structur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95351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4720" y="3410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Structure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3703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Provide a structured way to maintain agricultural information.</a:t>
            </a:r>
            <a:endParaRPr lang="en-US" sz="1400" dirty="0"/>
          </a:p>
        </p:txBody>
      </p:sp>
      <p:sp>
        <p:nvSpPr>
          <p:cNvPr id="17" name="Pillar card 3"/>
          <p:cNvSpPr/>
          <p:nvPr/>
        </p:nvSpPr>
        <p:spPr>
          <a:xfrm>
            <a:off x="6035040" y="269748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8" name="Icon circle Maintain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Maintain" descr="Maintai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295351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17920" y="3410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Maintain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3703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equipment and maintenance records organized and up to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Key Features at a Glance</a:t>
            </a:r>
            <a:endParaRPr lang="en-US" sz="3000" dirty="0"/>
          </a:p>
        </p:txBody>
      </p:sp>
      <p:sp>
        <p:nvSpPr>
          <p:cNvPr id="5" name="Feature tile Login &amp; Signup"/>
          <p:cNvSpPr/>
          <p:nvPr/>
        </p:nvSpPr>
        <p:spPr>
          <a:xfrm>
            <a:off x="548640" y="1325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6" name="Icon circle Login &amp; Signup"/>
          <p:cNvSpPr/>
          <p:nvPr/>
        </p:nvSpPr>
        <p:spPr>
          <a:xfrm>
            <a:off x="658368" y="1577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Login &amp; Signup" descr="Login &amp; Signu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62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1325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Login &amp; Signup</a:t>
            </a:r>
            <a:endParaRPr lang="en-US" sz="1400" dirty="0"/>
          </a:p>
        </p:txBody>
      </p:sp>
      <p:sp>
        <p:nvSpPr>
          <p:cNvPr id="9" name="Feature tile Dashboard"/>
          <p:cNvSpPr/>
          <p:nvPr/>
        </p:nvSpPr>
        <p:spPr>
          <a:xfrm>
            <a:off x="2606040" y="1325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Icon circle Dashboard"/>
          <p:cNvSpPr/>
          <p:nvPr/>
        </p:nvSpPr>
        <p:spPr>
          <a:xfrm>
            <a:off x="2715768" y="1577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Dashboard" descr="Dashboar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9621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64408" y="1325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Dashboard</a:t>
            </a:r>
            <a:endParaRPr lang="en-US" sz="1400" dirty="0"/>
          </a:p>
        </p:txBody>
      </p:sp>
      <p:sp>
        <p:nvSpPr>
          <p:cNvPr id="13" name="Feature tile Crops"/>
          <p:cNvSpPr/>
          <p:nvPr/>
        </p:nvSpPr>
        <p:spPr>
          <a:xfrm>
            <a:off x="4663440" y="1325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Icon circle Crops"/>
          <p:cNvSpPr/>
          <p:nvPr/>
        </p:nvSpPr>
        <p:spPr>
          <a:xfrm>
            <a:off x="4773168" y="1577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Crops" descr="Crop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9621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321808" y="1325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Crops</a:t>
            </a:r>
            <a:endParaRPr lang="en-US" sz="1400" dirty="0"/>
          </a:p>
        </p:txBody>
      </p:sp>
      <p:sp>
        <p:nvSpPr>
          <p:cNvPr id="17" name="Feature tile Fields"/>
          <p:cNvSpPr/>
          <p:nvPr/>
        </p:nvSpPr>
        <p:spPr>
          <a:xfrm>
            <a:off x="6720840" y="1325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8" name="Icon circle Fields"/>
          <p:cNvSpPr/>
          <p:nvPr/>
        </p:nvSpPr>
        <p:spPr>
          <a:xfrm>
            <a:off x="6830568" y="1577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Fields" descr="Field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9621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379208" y="1325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Fields</a:t>
            </a:r>
            <a:endParaRPr lang="en-US" sz="1400" dirty="0"/>
          </a:p>
        </p:txBody>
      </p:sp>
      <p:sp>
        <p:nvSpPr>
          <p:cNvPr id="21" name="Feature tile Farm Profile"/>
          <p:cNvSpPr/>
          <p:nvPr/>
        </p:nvSpPr>
        <p:spPr>
          <a:xfrm>
            <a:off x="548640" y="2468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2" name="Icon circle Farm Profile"/>
          <p:cNvSpPr/>
          <p:nvPr/>
        </p:nvSpPr>
        <p:spPr>
          <a:xfrm>
            <a:off x="658368" y="2720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 Farm Profile" descr="Farm Profi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839212"/>
            <a:ext cx="219456" cy="21945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07008" y="2468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Farm Profile</a:t>
            </a:r>
            <a:endParaRPr lang="en-US" sz="1400" dirty="0"/>
          </a:p>
        </p:txBody>
      </p:sp>
      <p:sp>
        <p:nvSpPr>
          <p:cNvPr id="25" name="Feature tile Crop Planning"/>
          <p:cNvSpPr/>
          <p:nvPr/>
        </p:nvSpPr>
        <p:spPr>
          <a:xfrm>
            <a:off x="2606040" y="2468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6" name="Icon circle Crop Planning"/>
          <p:cNvSpPr/>
          <p:nvPr/>
        </p:nvSpPr>
        <p:spPr>
          <a:xfrm>
            <a:off x="2715768" y="2720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 Crop Planning" descr="Crop Plann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2839212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264408" y="2468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Crop Planning</a:t>
            </a:r>
            <a:endParaRPr lang="en-US" sz="1400" dirty="0"/>
          </a:p>
        </p:txBody>
      </p:sp>
      <p:sp>
        <p:nvSpPr>
          <p:cNvPr id="29" name="Feature tile Activities"/>
          <p:cNvSpPr/>
          <p:nvPr/>
        </p:nvSpPr>
        <p:spPr>
          <a:xfrm>
            <a:off x="4663440" y="2468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0" name="Icon circle Activities"/>
          <p:cNvSpPr/>
          <p:nvPr/>
        </p:nvSpPr>
        <p:spPr>
          <a:xfrm>
            <a:off x="4773168" y="2720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 Activities" descr="Activities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2839212"/>
            <a:ext cx="219456" cy="21945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5321808" y="2468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Activities</a:t>
            </a:r>
            <a:endParaRPr lang="en-US" sz="1400" dirty="0"/>
          </a:p>
        </p:txBody>
      </p:sp>
      <p:sp>
        <p:nvSpPr>
          <p:cNvPr id="33" name="Feature tile Expenses"/>
          <p:cNvSpPr/>
          <p:nvPr/>
        </p:nvSpPr>
        <p:spPr>
          <a:xfrm>
            <a:off x="6720840" y="2468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4" name="Icon circle Expenses"/>
          <p:cNvSpPr/>
          <p:nvPr/>
        </p:nvSpPr>
        <p:spPr>
          <a:xfrm>
            <a:off x="6830568" y="2720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 Expenses" descr="Expense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2839212"/>
            <a:ext cx="219456" cy="219456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9208" y="2468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Expenses</a:t>
            </a:r>
            <a:endParaRPr lang="en-US" sz="1400" dirty="0"/>
          </a:p>
        </p:txBody>
      </p:sp>
      <p:sp>
        <p:nvSpPr>
          <p:cNvPr id="37" name="Feature tile Harvest"/>
          <p:cNvSpPr/>
          <p:nvPr/>
        </p:nvSpPr>
        <p:spPr>
          <a:xfrm>
            <a:off x="548640" y="3611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8" name="Icon circle Harvest"/>
          <p:cNvSpPr/>
          <p:nvPr/>
        </p:nvSpPr>
        <p:spPr>
          <a:xfrm>
            <a:off x="658368" y="3863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Icon Harvest" descr="Harvest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3982212"/>
            <a:ext cx="219456" cy="2194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1207008" y="3611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Harvest</a:t>
            </a:r>
            <a:endParaRPr lang="en-US" sz="1400" dirty="0"/>
          </a:p>
        </p:txBody>
      </p:sp>
      <p:sp>
        <p:nvSpPr>
          <p:cNvPr id="41" name="Feature tile Equipment"/>
          <p:cNvSpPr/>
          <p:nvPr/>
        </p:nvSpPr>
        <p:spPr>
          <a:xfrm>
            <a:off x="2606040" y="3611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2" name="Icon circle Equipment"/>
          <p:cNvSpPr/>
          <p:nvPr/>
        </p:nvSpPr>
        <p:spPr>
          <a:xfrm>
            <a:off x="2715768" y="3863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3" name="Icon Equipment" descr="Equipment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34640" y="3982212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3264408" y="3611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Equipment</a:t>
            </a:r>
            <a:endParaRPr lang="en-US" sz="1400" dirty="0"/>
          </a:p>
        </p:txBody>
      </p:sp>
      <p:sp>
        <p:nvSpPr>
          <p:cNvPr id="45" name="Feature tile Maintenance"/>
          <p:cNvSpPr/>
          <p:nvPr/>
        </p:nvSpPr>
        <p:spPr>
          <a:xfrm>
            <a:off x="4663440" y="3611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6" name="Icon circle Maintenance"/>
          <p:cNvSpPr/>
          <p:nvPr/>
        </p:nvSpPr>
        <p:spPr>
          <a:xfrm>
            <a:off x="4773168" y="3863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Icon Maintenance" descr="Maintenance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2040" y="3982212"/>
            <a:ext cx="219456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5321808" y="3611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</a:t>
            </a:r>
            <a:endParaRPr lang="en-US" sz="1400" dirty="0"/>
          </a:p>
        </p:txBody>
      </p:sp>
      <p:sp>
        <p:nvSpPr>
          <p:cNvPr id="49" name="Feature tile Crop Rotation"/>
          <p:cNvSpPr/>
          <p:nvPr/>
        </p:nvSpPr>
        <p:spPr>
          <a:xfrm>
            <a:off x="6720840" y="3611880"/>
            <a:ext cx="18745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50" name="Icon circle Crop Rotation"/>
          <p:cNvSpPr/>
          <p:nvPr/>
        </p:nvSpPr>
        <p:spPr>
          <a:xfrm>
            <a:off x="6830568" y="38633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1" name="Icon Crop Rotation" descr="Crop Rotation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0" y="3982212"/>
            <a:ext cx="219456" cy="219456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7379208" y="3611880"/>
            <a:ext cx="1170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Crop Rotation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Farm Setup Modules</a:t>
            </a:r>
            <a:endParaRPr lang="en-US" sz="3000" dirty="0"/>
          </a:p>
        </p:txBody>
      </p:sp>
      <p:sp>
        <p:nvSpPr>
          <p:cNvPr id="5" name="Setup card 1"/>
          <p:cNvSpPr/>
          <p:nvPr/>
        </p:nvSpPr>
        <p:spPr>
          <a:xfrm>
            <a:off x="548640" y="132588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6" name="Icon circle Crop Management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Crop Management" descr="Crop Managemen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67518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Crop Management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Maintain detailed crop information in one place.</a:t>
            </a:r>
            <a:endParaRPr lang="en-US" sz="1400" dirty="0"/>
          </a:p>
        </p:txBody>
      </p:sp>
      <p:sp>
        <p:nvSpPr>
          <p:cNvPr id="10" name="Setup card 2"/>
          <p:cNvSpPr/>
          <p:nvPr/>
        </p:nvSpPr>
        <p:spPr>
          <a:xfrm>
            <a:off x="3291840" y="132588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11" name="Icon circle Field Management"/>
          <p:cNvSpPr/>
          <p:nvPr/>
        </p:nvSpPr>
        <p:spPr>
          <a:xfrm>
            <a:off x="347472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Field Management" descr="Field Managem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141" y="167518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472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Field Management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47472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Organize fields and their details for easy reference.</a:t>
            </a:r>
            <a:endParaRPr lang="en-US" sz="1400" dirty="0"/>
          </a:p>
        </p:txBody>
      </p:sp>
      <p:sp>
        <p:nvSpPr>
          <p:cNvPr id="15" name="Setup card 3"/>
          <p:cNvSpPr/>
          <p:nvPr/>
        </p:nvSpPr>
        <p:spPr>
          <a:xfrm>
            <a:off x="6035040" y="132588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16" name="Icon circle Farm Profile"/>
          <p:cNvSpPr/>
          <p:nvPr/>
        </p:nvSpPr>
        <p:spPr>
          <a:xfrm>
            <a:off x="621792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Farm Profile" descr="Farm Profi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4341" y="167518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1792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Farm Profile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Manage core farm information and keep it current.</a:t>
            </a:r>
            <a:endParaRPr lang="en-US" sz="1400" dirty="0"/>
          </a:p>
        </p:txBody>
      </p:sp>
      <p:sp>
        <p:nvSpPr>
          <p:cNvPr id="20" name="Setup note"/>
          <p:cNvSpPr/>
          <p:nvPr/>
        </p:nvSpPr>
        <p:spPr>
          <a:xfrm>
            <a:off x="548640" y="3931920"/>
            <a:ext cx="804672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22960" y="39319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These records form the base of the farm's data in HarvestHub.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Planning &amp; Operations</a:t>
            </a:r>
            <a:endParaRPr lang="en-US" sz="3000" dirty="0"/>
          </a:p>
        </p:txBody>
      </p:sp>
      <p:sp>
        <p:nvSpPr>
          <p:cNvPr id="5" name="Planning row 1"/>
          <p:cNvSpPr/>
          <p:nvPr/>
        </p:nvSpPr>
        <p:spPr>
          <a:xfrm>
            <a:off x="548640" y="132588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6" name="Icon circle Crop Planning"/>
          <p:cNvSpPr/>
          <p:nvPr/>
        </p:nvSpPr>
        <p:spPr>
          <a:xfrm>
            <a:off x="777240" y="15087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Crop Planning" descr="Crop Plann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4" y="16632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4813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Crop Planning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18562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Track sowing dates, expected harvest dates and crop status.</a:t>
            </a:r>
            <a:endParaRPr lang="en-US" sz="1400" dirty="0"/>
          </a:p>
        </p:txBody>
      </p:sp>
      <p:sp>
        <p:nvSpPr>
          <p:cNvPr id="10" name="Planning row 2"/>
          <p:cNvSpPr/>
          <p:nvPr/>
        </p:nvSpPr>
        <p:spPr>
          <a:xfrm>
            <a:off x="548640" y="242316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1" name="Icon circle Activity Management"/>
          <p:cNvSpPr/>
          <p:nvPr/>
        </p:nvSpPr>
        <p:spPr>
          <a:xfrm>
            <a:off x="777240" y="2606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Activity Management" descr="Activity Managem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27605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25786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Activity Management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29535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and monitor farming activities.</a:t>
            </a:r>
            <a:endParaRPr lang="en-US" sz="1400" dirty="0"/>
          </a:p>
        </p:txBody>
      </p:sp>
      <p:sp>
        <p:nvSpPr>
          <p:cNvPr id="15" name="Planning row 3"/>
          <p:cNvSpPr/>
          <p:nvPr/>
        </p:nvSpPr>
        <p:spPr>
          <a:xfrm>
            <a:off x="548640" y="352044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6" name="Icon circle Crop Rotation"/>
          <p:cNvSpPr/>
          <p:nvPr/>
        </p:nvSpPr>
        <p:spPr>
          <a:xfrm>
            <a:off x="777240" y="3703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Crop Rotation" descr="Crop Rot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4" y="38578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367588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Crop Rotation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0507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Maintain crop rotation records for different fields.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Expenses &amp; Harvest</a:t>
            </a:r>
            <a:endParaRPr lang="en-US" sz="3000" dirty="0"/>
          </a:p>
        </p:txBody>
      </p:sp>
      <p:sp>
        <p:nvSpPr>
          <p:cNvPr id="5" name="Finance card 1"/>
          <p:cNvSpPr/>
          <p:nvPr/>
        </p:nvSpPr>
        <p:spPr>
          <a:xfrm>
            <a:off x="548640" y="1325880"/>
            <a:ext cx="39319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6" name="Icon circle Expense Tracking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Expense Tracking" descr="Expense Track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177850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600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Expense Tracking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060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Store farming expenses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Keep a description with each record</a:t>
            </a:r>
            <a:endParaRPr lang="en-US" sz="1600" dirty="0"/>
          </a:p>
        </p:txBody>
      </p:sp>
      <p:sp>
        <p:nvSpPr>
          <p:cNvPr id="10" name="Finance card 2"/>
          <p:cNvSpPr/>
          <p:nvPr/>
        </p:nvSpPr>
        <p:spPr>
          <a:xfrm>
            <a:off x="4663440" y="1325880"/>
            <a:ext cx="393192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11" name="Icon circle Harvest Management"/>
          <p:cNvSpPr/>
          <p:nvPr/>
        </p:nvSpPr>
        <p:spPr>
          <a:xfrm>
            <a:off x="493776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Harvest Management" descr="Harvest Managem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068" y="177850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06440" y="1600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Harvest Management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983480" y="26060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Maintain harvest quantities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Record selling prices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Track harvest quality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Equipment &amp; Maintenance</a:t>
            </a:r>
            <a:endParaRPr lang="en-US" sz="3000" dirty="0"/>
          </a:p>
        </p:txBody>
      </p:sp>
      <p:sp>
        <p:nvSpPr>
          <p:cNvPr id="5" name="Equipment card"/>
          <p:cNvSpPr/>
          <p:nvPr/>
        </p:nvSpPr>
        <p:spPr>
          <a:xfrm>
            <a:off x="548640" y="1325880"/>
            <a:ext cx="32918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6" name="Icon circle Equipment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Equipment" descr="Equipmen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" y="1790395"/>
            <a:ext cx="351130" cy="3511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14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Equipment Management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26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Keep records of agricultural equipment.</a:t>
            </a:r>
            <a:endParaRPr lang="en-US" sz="1500" dirty="0"/>
          </a:p>
        </p:txBody>
      </p:sp>
      <p:sp>
        <p:nvSpPr>
          <p:cNvPr id="10" name="Arrow"/>
          <p:cNvSpPr/>
          <p:nvPr/>
        </p:nvSpPr>
        <p:spPr>
          <a:xfrm>
            <a:off x="3931920" y="2651760"/>
            <a:ext cx="457200" cy="41148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1" name="Maintenance card"/>
          <p:cNvSpPr/>
          <p:nvPr/>
        </p:nvSpPr>
        <p:spPr>
          <a:xfrm>
            <a:off x="4480560" y="1325880"/>
            <a:ext cx="411480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75488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Maintenance Scheduling</a:t>
            </a:r>
            <a:endParaRPr lang="en-US" sz="1800" dirty="0"/>
          </a:p>
        </p:txBody>
      </p:sp>
      <p:sp>
        <p:nvSpPr>
          <p:cNvPr id="13" name="Maintenance pill 1"/>
          <p:cNvSpPr/>
          <p:nvPr/>
        </p:nvSpPr>
        <p:spPr>
          <a:xfrm>
            <a:off x="4754880" y="2148840"/>
            <a:ext cx="3566160" cy="59436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/>
        </p:spPr>
      </p:sp>
      <p:sp>
        <p:nvSpPr>
          <p:cNvPr id="14" name="Icon circle Maintenance dates"/>
          <p:cNvSpPr/>
          <p:nvPr/>
        </p:nvSpPr>
        <p:spPr>
          <a:xfrm>
            <a:off x="4864608" y="2240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Maintenance dates" descr="Maintenance date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593" y="2347265"/>
            <a:ext cx="197510" cy="19751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0" y="2148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Maintenance dates</a:t>
            </a:r>
            <a:endParaRPr lang="en-US" sz="1500" dirty="0"/>
          </a:p>
        </p:txBody>
      </p:sp>
      <p:sp>
        <p:nvSpPr>
          <p:cNvPr id="17" name="Maintenance pill 2"/>
          <p:cNvSpPr/>
          <p:nvPr/>
        </p:nvSpPr>
        <p:spPr>
          <a:xfrm>
            <a:off x="4754880" y="2862072"/>
            <a:ext cx="3566160" cy="59436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/>
        </p:spPr>
      </p:sp>
      <p:sp>
        <p:nvSpPr>
          <p:cNvPr id="18" name="Icon circle Service costs"/>
          <p:cNvSpPr/>
          <p:nvPr/>
        </p:nvSpPr>
        <p:spPr>
          <a:xfrm>
            <a:off x="4864608" y="295351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Service costs" descr="Service cost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593" y="3060497"/>
            <a:ext cx="197510" cy="19751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86400" y="286207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Service costs</a:t>
            </a:r>
            <a:endParaRPr lang="en-US" sz="1500" dirty="0"/>
          </a:p>
        </p:txBody>
      </p:sp>
      <p:sp>
        <p:nvSpPr>
          <p:cNvPr id="21" name="Maintenance pill 3"/>
          <p:cNvSpPr/>
          <p:nvPr/>
        </p:nvSpPr>
        <p:spPr>
          <a:xfrm>
            <a:off x="4754880" y="3575304"/>
            <a:ext cx="3566160" cy="594360"/>
          </a:xfrm>
          <a:prstGeom prst="roundRect">
            <a:avLst>
              <a:gd name="adj" fmla="val 18462"/>
            </a:avLst>
          </a:prstGeom>
          <a:solidFill>
            <a:schemeClr val="bg1"/>
          </a:solidFill>
          <a:ln/>
        </p:spPr>
      </p:sp>
      <p:sp>
        <p:nvSpPr>
          <p:cNvPr id="22" name="Icon circle Service status"/>
          <p:cNvSpPr/>
          <p:nvPr/>
        </p:nvSpPr>
        <p:spPr>
          <a:xfrm>
            <a:off x="4864608" y="36667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 Service status" descr="Service statu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593" y="3773729"/>
            <a:ext cx="197510" cy="19751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57530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Service status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Access, Insight &amp; Data</a:t>
            </a:r>
            <a:endParaRPr lang="en-US" sz="3000" dirty="0"/>
          </a:p>
        </p:txBody>
      </p:sp>
      <p:sp>
        <p:nvSpPr>
          <p:cNvPr id="5" name="Access card 1"/>
          <p:cNvSpPr/>
          <p:nvPr/>
        </p:nvSpPr>
        <p:spPr>
          <a:xfrm>
            <a:off x="548640" y="132588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6" name="Icon circle User Authentication"/>
          <p:cNvSpPr/>
          <p:nvPr/>
        </p:nvSpPr>
        <p:spPr>
          <a:xfrm>
            <a:off x="77724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User Authentication" descr="User Authenticati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190378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5819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User Authentication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19659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Login and signup functionality.</a:t>
            </a:r>
            <a:endParaRPr lang="en-US" sz="1400" dirty="0"/>
          </a:p>
        </p:txBody>
      </p:sp>
      <p:sp>
        <p:nvSpPr>
          <p:cNvPr id="10" name="Access card 2"/>
          <p:cNvSpPr/>
          <p:nvPr/>
        </p:nvSpPr>
        <p:spPr>
          <a:xfrm>
            <a:off x="4663440" y="132588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1" name="Icon circle Dashboard"/>
          <p:cNvSpPr/>
          <p:nvPr/>
        </p:nvSpPr>
        <p:spPr>
          <a:xfrm>
            <a:off x="489204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Dashboard" descr="Dashboar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461" y="190378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760720" y="15819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760720" y="19659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Overview of farm statistics and records.</a:t>
            </a:r>
            <a:endParaRPr lang="en-US" sz="1400" dirty="0"/>
          </a:p>
        </p:txBody>
      </p:sp>
      <p:sp>
        <p:nvSpPr>
          <p:cNvPr id="15" name="Access card 3"/>
          <p:cNvSpPr/>
          <p:nvPr/>
        </p:nvSpPr>
        <p:spPr>
          <a:xfrm>
            <a:off x="548640" y="297180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6" name="Icon circle User-Specific Data"/>
          <p:cNvSpPr/>
          <p:nvPr/>
        </p:nvSpPr>
        <p:spPr>
          <a:xfrm>
            <a:off x="777240" y="3383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User-Specific Data" descr="User-Specific Data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35497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32278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User-Specific Data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3611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User-specific data access is verified in testing.</a:t>
            </a:r>
            <a:endParaRPr lang="en-US" sz="1400" dirty="0"/>
          </a:p>
        </p:txBody>
      </p:sp>
      <p:sp>
        <p:nvSpPr>
          <p:cNvPr id="20" name="Access card 4"/>
          <p:cNvSpPr/>
          <p:nvPr/>
        </p:nvSpPr>
        <p:spPr>
          <a:xfrm>
            <a:off x="4663440" y="2971800"/>
            <a:ext cx="39319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21" name="Icon circle MySQL Persistence"/>
          <p:cNvSpPr/>
          <p:nvPr/>
        </p:nvSpPr>
        <p:spPr>
          <a:xfrm>
            <a:off x="4892040" y="3383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 MySQL Persistence" descr="MySQL Persistenc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461" y="3549701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760720" y="32278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MySQL Persistence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5760720" y="3611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Application data stored in a relational database.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Stack</a:t>
            </a:r>
            <a:endParaRPr lang="en-US" sz="3000" dirty="0"/>
          </a:p>
        </p:txBody>
      </p:sp>
      <p:sp>
        <p:nvSpPr>
          <p:cNvPr id="5" name="Tech card Frontend"/>
          <p:cNvSpPr/>
          <p:nvPr/>
        </p:nvSpPr>
        <p:spPr>
          <a:xfrm>
            <a:off x="548640" y="1325880"/>
            <a:ext cx="2560320" cy="31089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6" name="Icon circle Frontend"/>
          <p:cNvSpPr/>
          <p:nvPr/>
        </p:nvSpPr>
        <p:spPr>
          <a:xfrm>
            <a:off x="73152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Frontend" descr="Fronten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165140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Frontend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6060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Angular 21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TypeScript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HTML5 and CSS3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npm</a:t>
            </a:r>
            <a:endParaRPr lang="en-US" sz="1400" dirty="0"/>
          </a:p>
        </p:txBody>
      </p:sp>
      <p:sp>
        <p:nvSpPr>
          <p:cNvPr id="10" name="Tech card Backend"/>
          <p:cNvSpPr/>
          <p:nvPr/>
        </p:nvSpPr>
        <p:spPr>
          <a:xfrm>
            <a:off x="3291840" y="1325880"/>
            <a:ext cx="2560320" cy="31089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Icon circle Backend"/>
          <p:cNvSpPr/>
          <p:nvPr/>
        </p:nvSpPr>
        <p:spPr>
          <a:xfrm>
            <a:off x="347472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Backend" descr="Backen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7366" y="165140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Backend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474720" y="26060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Java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Spring Boot 4.1.1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Spring Data JPA / Hibernate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Maven</a:t>
            </a:r>
            <a:endParaRPr lang="en-US" sz="1400" dirty="0"/>
          </a:p>
        </p:txBody>
      </p:sp>
      <p:sp>
        <p:nvSpPr>
          <p:cNvPr id="15" name="Tech card Data &amp; Tools"/>
          <p:cNvSpPr/>
          <p:nvPr/>
        </p:nvSpPr>
        <p:spPr>
          <a:xfrm>
            <a:off x="6035040" y="1325880"/>
            <a:ext cx="2560320" cy="31089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6" name="Icon circle Data &amp; Tools"/>
          <p:cNvSpPr/>
          <p:nvPr/>
        </p:nvSpPr>
        <p:spPr>
          <a:xfrm>
            <a:off x="621792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Data &amp; Tools" descr="Data &amp; Tool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566" y="1651406"/>
            <a:ext cx="263347" cy="26334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179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Data &amp; Tools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0" y="26060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MySQL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Postman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Git and GitHub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GitHub Actions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5" name="Architecture node Angular UI"/>
          <p:cNvSpPr/>
          <p:nvPr/>
        </p:nvSpPr>
        <p:spPr>
          <a:xfrm>
            <a:off x="548640" y="1371600"/>
            <a:ext cx="1325880" cy="182880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6" name="Icon circle Angular UI"/>
          <p:cNvSpPr/>
          <p:nvPr/>
        </p:nvSpPr>
        <p:spPr>
          <a:xfrm>
            <a:off x="937260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con Angular UI" descr="Angular UI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906" y="16971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21792" y="224028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Angular UI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2743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localhost:4200</a:t>
            </a:r>
            <a:endParaRPr lang="en-US" sz="1200" dirty="0"/>
          </a:p>
        </p:txBody>
      </p:sp>
      <p:sp>
        <p:nvSpPr>
          <p:cNvPr id="10" name="Arrow 1"/>
          <p:cNvSpPr/>
          <p:nvPr/>
        </p:nvSpPr>
        <p:spPr>
          <a:xfrm>
            <a:off x="1920240" y="214884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1" name="Architecture node REST APIs"/>
          <p:cNvSpPr/>
          <p:nvPr/>
        </p:nvSpPr>
        <p:spPr>
          <a:xfrm>
            <a:off x="2231136" y="1371600"/>
            <a:ext cx="1325880" cy="182880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12" name="Icon circle REST APIs"/>
          <p:cNvSpPr/>
          <p:nvPr/>
        </p:nvSpPr>
        <p:spPr>
          <a:xfrm>
            <a:off x="2619756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con REST APIs" descr="REST API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02" y="169712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04288" y="224028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REST APIs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304288" y="2743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JSON over HTTP</a:t>
            </a:r>
            <a:endParaRPr lang="en-US" sz="1200" dirty="0"/>
          </a:p>
        </p:txBody>
      </p:sp>
      <p:sp>
        <p:nvSpPr>
          <p:cNvPr id="16" name="Arrow 2"/>
          <p:cNvSpPr/>
          <p:nvPr/>
        </p:nvSpPr>
        <p:spPr>
          <a:xfrm>
            <a:off x="3602736" y="214884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7" name="Architecture node Spring Boot"/>
          <p:cNvSpPr/>
          <p:nvPr/>
        </p:nvSpPr>
        <p:spPr>
          <a:xfrm>
            <a:off x="3913632" y="1371600"/>
            <a:ext cx="1325880" cy="182880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18" name="Icon circle Spring Boot"/>
          <p:cNvSpPr/>
          <p:nvPr/>
        </p:nvSpPr>
        <p:spPr>
          <a:xfrm>
            <a:off x="4302252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con Spring Boot" descr="Spring Boo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898" y="1697126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86784" y="224028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3986784" y="2743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localhost:8083</a:t>
            </a:r>
            <a:endParaRPr lang="en-US" sz="1200" dirty="0"/>
          </a:p>
        </p:txBody>
      </p:sp>
      <p:sp>
        <p:nvSpPr>
          <p:cNvPr id="22" name="Arrow 3"/>
          <p:cNvSpPr/>
          <p:nvPr/>
        </p:nvSpPr>
        <p:spPr>
          <a:xfrm>
            <a:off x="5285232" y="214884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3" name="Architecture node JPA / Hibernate"/>
          <p:cNvSpPr/>
          <p:nvPr/>
        </p:nvSpPr>
        <p:spPr>
          <a:xfrm>
            <a:off x="5596128" y="1371600"/>
            <a:ext cx="1325880" cy="182880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24" name="Icon circle JPA / Hibernate"/>
          <p:cNvSpPr/>
          <p:nvPr/>
        </p:nvSpPr>
        <p:spPr>
          <a:xfrm>
            <a:off x="5984748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Icon JPA / Hibernate" descr="JPA / Hibernat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394" y="1697126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69280" y="224028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JPA / Hibernate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5669280" y="2743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Data access</a:t>
            </a:r>
            <a:endParaRPr lang="en-US" sz="1200" dirty="0"/>
          </a:p>
        </p:txBody>
      </p:sp>
      <p:sp>
        <p:nvSpPr>
          <p:cNvPr id="28" name="Arrow 4"/>
          <p:cNvSpPr/>
          <p:nvPr/>
        </p:nvSpPr>
        <p:spPr>
          <a:xfrm>
            <a:off x="6967728" y="214884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9" name="Architecture node MySQL"/>
          <p:cNvSpPr/>
          <p:nvPr/>
        </p:nvSpPr>
        <p:spPr>
          <a:xfrm>
            <a:off x="7278624" y="1371600"/>
            <a:ext cx="1325880" cy="182880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30" name="Icon circle MySQL"/>
          <p:cNvSpPr/>
          <p:nvPr/>
        </p:nvSpPr>
        <p:spPr>
          <a:xfrm>
            <a:off x="7667244" y="15544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con MySQL" descr="MySQ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9890" y="169712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351776" y="224028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MySQL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7351776" y="274320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harvesthub</a:t>
            </a:r>
            <a:endParaRPr lang="en-US" sz="1200" dirty="0"/>
          </a:p>
        </p:txBody>
      </p:sp>
      <p:sp>
        <p:nvSpPr>
          <p:cNvPr id="34" name="Flow note"/>
          <p:cNvSpPr/>
          <p:nvPr/>
        </p:nvSpPr>
        <p:spPr>
          <a:xfrm>
            <a:off x="548640" y="3474720"/>
            <a:ext cx="804672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777240" y="347472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user action in Angular becomes an HTTP request to a REST API. Spring Boot applies the business logic and persists records in MySQL through Spring Data JPA / Hibernate.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Project Structure</a:t>
            </a:r>
            <a:endParaRPr lang="en-US" sz="3000" dirty="0"/>
          </a:p>
        </p:txBody>
      </p:sp>
      <p:sp>
        <p:nvSpPr>
          <p:cNvPr id="5" name="Folder tree card"/>
          <p:cNvSpPr/>
          <p:nvPr/>
        </p:nvSpPr>
        <p:spPr>
          <a:xfrm>
            <a:off x="548640" y="1325880"/>
            <a:ext cx="4206240" cy="310896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HarvestHub/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.github/workflows/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harvesthub.yml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Document/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Harvesthub.sql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SRS Report.docx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angular-auth/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auth-backend/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.gitignore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</a:t>
            </a:r>
            <a:endParaRPr lang="en-US" sz="1300" dirty="0"/>
          </a:p>
        </p:txBody>
      </p:sp>
      <p:sp>
        <p:nvSpPr>
          <p:cNvPr id="7" name="Folder row angular-auth"/>
          <p:cNvSpPr/>
          <p:nvPr/>
        </p:nvSpPr>
        <p:spPr>
          <a:xfrm>
            <a:off x="5029200" y="1325880"/>
            <a:ext cx="356616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8" name="Icon circle angular-auth"/>
          <p:cNvSpPr/>
          <p:nvPr/>
        </p:nvSpPr>
        <p:spPr>
          <a:xfrm>
            <a:off x="5166360" y="14538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angular-auth" descr="angular-auth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572768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60720" y="1399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angular-auth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76072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Angular frontend source</a:t>
            </a:r>
            <a:endParaRPr lang="en-US" sz="1400" dirty="0"/>
          </a:p>
        </p:txBody>
      </p:sp>
      <p:sp>
        <p:nvSpPr>
          <p:cNvPr id="12" name="Folder row auth-backend"/>
          <p:cNvSpPr/>
          <p:nvPr/>
        </p:nvSpPr>
        <p:spPr>
          <a:xfrm>
            <a:off x="5029200" y="2130552"/>
            <a:ext cx="356616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13" name="Icon circle auth-backend"/>
          <p:cNvSpPr/>
          <p:nvPr/>
        </p:nvSpPr>
        <p:spPr>
          <a:xfrm>
            <a:off x="5166360" y="2258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auth-backend" descr="auth-backen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37744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760720" y="22037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auth-backend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2496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Spring Boot backend source</a:t>
            </a:r>
            <a:endParaRPr lang="en-US" sz="1400" dirty="0"/>
          </a:p>
        </p:txBody>
      </p:sp>
      <p:sp>
        <p:nvSpPr>
          <p:cNvPr id="17" name="Folder row Document"/>
          <p:cNvSpPr/>
          <p:nvPr/>
        </p:nvSpPr>
        <p:spPr>
          <a:xfrm>
            <a:off x="5029200" y="2935224"/>
            <a:ext cx="356616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18" name="Icon circle Document"/>
          <p:cNvSpPr/>
          <p:nvPr/>
        </p:nvSpPr>
        <p:spPr>
          <a:xfrm>
            <a:off x="516636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Document" descr="Documen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318211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760720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Document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76072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SQL script and SRS report</a:t>
            </a:r>
            <a:endParaRPr lang="en-US" sz="1400" dirty="0"/>
          </a:p>
        </p:txBody>
      </p:sp>
      <p:sp>
        <p:nvSpPr>
          <p:cNvPr id="22" name="Folder row .github/workflows"/>
          <p:cNvSpPr/>
          <p:nvPr/>
        </p:nvSpPr>
        <p:spPr>
          <a:xfrm>
            <a:off x="5029200" y="3739896"/>
            <a:ext cx="356616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23" name="Icon circle .github/workflows"/>
          <p:cNvSpPr/>
          <p:nvPr/>
        </p:nvSpPr>
        <p:spPr>
          <a:xfrm>
            <a:off x="5166360" y="38679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 .github/workflows" descr=".github/workflow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398678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60720" y="3813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.github/workflows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5760720" y="4105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workflow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Getting Started</a:t>
            </a:r>
            <a:endParaRPr lang="en-US" sz="3000" dirty="0"/>
          </a:p>
        </p:txBody>
      </p:sp>
      <p:sp>
        <p:nvSpPr>
          <p:cNvPr id="5" name="Prerequisites card"/>
          <p:cNvSpPr/>
          <p:nvPr/>
        </p:nvSpPr>
        <p:spPr>
          <a:xfrm>
            <a:off x="54864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Prerequisites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Java JDK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Node.js and npm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MySQL Server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Git</a:t>
            </a:r>
            <a:endParaRPr lang="en-US" sz="1600" dirty="0"/>
          </a:p>
        </p:txBody>
      </p:sp>
      <p:sp>
        <p:nvSpPr>
          <p:cNvPr id="8" name="Step row 1"/>
          <p:cNvSpPr/>
          <p:nvPr/>
        </p:nvSpPr>
        <p:spPr>
          <a:xfrm>
            <a:off x="3383280" y="1325880"/>
            <a:ext cx="52120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9" name="Step number 1"/>
          <p:cNvSpPr/>
          <p:nvPr/>
        </p:nvSpPr>
        <p:spPr>
          <a:xfrm>
            <a:off x="3520440" y="14538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2044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1399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Clone the repository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1691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clone, then cd HarvestHub</a:t>
            </a:r>
            <a:endParaRPr lang="en-US" sz="1400" dirty="0"/>
          </a:p>
        </p:txBody>
      </p:sp>
      <p:sp>
        <p:nvSpPr>
          <p:cNvPr id="13" name="Step row 2"/>
          <p:cNvSpPr/>
          <p:nvPr/>
        </p:nvSpPr>
        <p:spPr>
          <a:xfrm>
            <a:off x="3383280" y="2130552"/>
            <a:ext cx="52120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14" name="Step number 2"/>
          <p:cNvSpPr/>
          <p:nvPr/>
        </p:nvSpPr>
        <p:spPr>
          <a:xfrm>
            <a:off x="3520440" y="2258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5204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2037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Configure MySQL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160520" y="24963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harvesthub; set DB_USERNAME / DB_PASSWORD</a:t>
            </a:r>
            <a:endParaRPr lang="en-US" sz="1400" dirty="0"/>
          </a:p>
        </p:txBody>
      </p:sp>
      <p:sp>
        <p:nvSpPr>
          <p:cNvPr id="18" name="Step row 3"/>
          <p:cNvSpPr/>
          <p:nvPr/>
        </p:nvSpPr>
        <p:spPr>
          <a:xfrm>
            <a:off x="3383280" y="2935224"/>
            <a:ext cx="52120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19" name="Step number 3"/>
          <p:cNvSpPr/>
          <p:nvPr/>
        </p:nvSpPr>
        <p:spPr>
          <a:xfrm>
            <a:off x="352044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5204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3008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 the backend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300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 auth-backend; mvnw.cmd spring-boot:run (port 8083)</a:t>
            </a:r>
            <a:endParaRPr lang="en-US" sz="1400" dirty="0"/>
          </a:p>
        </p:txBody>
      </p:sp>
      <p:sp>
        <p:nvSpPr>
          <p:cNvPr id="23" name="Step row 4"/>
          <p:cNvSpPr/>
          <p:nvPr/>
        </p:nvSpPr>
        <p:spPr>
          <a:xfrm>
            <a:off x="3383280" y="3739896"/>
            <a:ext cx="521208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sp>
        <p:nvSpPr>
          <p:cNvPr id="24" name="Step number 4"/>
          <p:cNvSpPr/>
          <p:nvPr/>
        </p:nvSpPr>
        <p:spPr>
          <a:xfrm>
            <a:off x="3520440" y="38679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52044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8130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 the frontend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160520" y="41056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 angular-auth; npm install; npm start (port 4200)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Testing &amp; Build</a:t>
            </a:r>
            <a:endParaRPr lang="en-US" sz="3000" dirty="0"/>
          </a:p>
        </p:txBody>
      </p:sp>
      <p:sp>
        <p:nvSpPr>
          <p:cNvPr id="5" name="Testing card"/>
          <p:cNvSpPr/>
          <p:nvPr/>
        </p:nvSpPr>
        <p:spPr>
          <a:xfrm>
            <a:off x="548640" y="1325880"/>
            <a:ext cx="384048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to verify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202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Login and signup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CRUD across farm modules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Dashboard statistics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Database persistence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User-specific data access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Postman tests the REST APIs: create, retrieve, update and delete.</a:t>
            </a:r>
            <a:endParaRPr lang="en-US" sz="1400" dirty="0"/>
          </a:p>
        </p:txBody>
      </p:sp>
      <p:sp>
        <p:nvSpPr>
          <p:cNvPr id="9" name="Commands card"/>
          <p:cNvSpPr/>
          <p:nvPr/>
        </p:nvSpPr>
        <p:spPr>
          <a:xfrm>
            <a:off x="4572000" y="1325880"/>
            <a:ext cx="4023360" cy="310896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Build and test commands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9659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Frontend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angular-auth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Backend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auth-backend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.\mvnw.cmd clean package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.\mvnw.cmd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 circle title"/>
          <p:cNvSpPr/>
          <p:nvPr/>
        </p:nvSpPr>
        <p:spPr>
          <a:xfrm>
            <a:off x="548640" y="365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Icon title" descr="titl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513161"/>
            <a:ext cx="272125" cy="272125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280160" y="365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CI/CD &amp; Documentation</a:t>
            </a:r>
            <a:endParaRPr lang="en-US" sz="3000" dirty="0"/>
          </a:p>
        </p:txBody>
      </p:sp>
      <p:sp>
        <p:nvSpPr>
          <p:cNvPr id="5" name="CI card 1"/>
          <p:cNvSpPr/>
          <p:nvPr/>
        </p:nvSpPr>
        <p:spPr>
          <a:xfrm>
            <a:off x="548640" y="132588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6" name="Icon circle GitHub Actions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GitHub Actions" descr="GitHub Action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1" y="172090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GitHub Actions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51460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harvesthub.yml workflow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Validation and build checks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Runs on configured pushes and pull requests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results in the Actions tab</a:t>
            </a:r>
            <a:endParaRPr lang="en-US" sz="1400" dirty="0"/>
          </a:p>
        </p:txBody>
      </p:sp>
      <p:sp>
        <p:nvSpPr>
          <p:cNvPr id="10" name="CI card 2"/>
          <p:cNvSpPr/>
          <p:nvPr/>
        </p:nvSpPr>
        <p:spPr>
          <a:xfrm>
            <a:off x="4663440" y="132588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11" name="Icon circle Documentation"/>
          <p:cNvSpPr/>
          <p:nvPr/>
        </p:nvSpPr>
        <p:spPr>
          <a:xfrm>
            <a:off x="493776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Documentation" descr="Documentatio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181" y="172090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76072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Documentation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983480" y="251460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Located in the Document/ directory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Harvesthub.sql: SQL database script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SRS Report.docx: Software Requirements Specification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258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688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Questions &amp; Discussion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Abhishek Verma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github.com/abhishekraj01432-code/HarvestHub</a:t>
            </a:r>
            <a:endParaRPr lang="en-US" sz="1400" dirty="0"/>
          </a:p>
        </p:txBody>
      </p:sp>
      <p:sp>
        <p:nvSpPr>
          <p:cNvPr id="6" name="Hero circle"/>
          <p:cNvSpPr/>
          <p:nvPr/>
        </p:nvSpPr>
        <p:spPr>
          <a:xfrm>
            <a:off x="6035040" y="1188720"/>
            <a:ext cx="2651760" cy="26517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7" name="Hero icon" descr="Seedl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arvestHub Forest">
  <a:themeElements>
    <a:clrScheme name="HarvestHub Forest">
      <a:dk1>
        <a:srgbClr val="14281D"/>
      </a:dk1>
      <a:lt1>
        <a:srgbClr val="FFFFFF"/>
      </a:lt1>
      <a:dk2>
        <a:srgbClr val="2C5F2D"/>
      </a:dk2>
      <a:lt2>
        <a:srgbClr val="EEF4EA"/>
      </a:lt2>
      <a:accent1>
        <a:srgbClr val="2C5F2D"/>
      </a:accent1>
      <a:accent2>
        <a:srgbClr val="97BC62"/>
      </a:accent2>
      <a:accent3>
        <a:srgbClr val="E0A526"/>
      </a:accent3>
      <a:accent4>
        <a:srgbClr val="5B8C51"/>
      </a:accent4>
      <a:accent5>
        <a:srgbClr val="8A5A2B"/>
      </a:accent5>
      <a:accent6>
        <a:srgbClr val="3E7CB1"/>
      </a:accent6>
      <a:hlink>
        <a:srgbClr val="E0A526"/>
      </a:hlink>
      <a:folHlink>
        <a:srgbClr val="97BC62"/>
      </a:folHlink>
    </a:clrScheme>
    <a:fontScheme name="HarvestHub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HarvestHub – Farm Management &amp; Crop Planning</dc:title>
  <dc:subject>PptxGenJS Presentation</dc:subject>
  <dc:creator>Abhishek Verma</dc:creator>
  <cp:lastModifiedBy>Abhishek Verma</cp:lastModifiedBy>
  <cp:revision>1</cp:revision>
  <dcterms:created xsi:type="dcterms:W3CDTF">2026-10-30T10:40:57Z</dcterms:created>
  <dcterms:modified xsi:type="dcterms:W3CDTF">2026-10-30T10:40:57Z</dcterms:modified>
</cp:coreProperties>
</file>